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72" r:id="rId2"/>
    <p:sldId id="257" r:id="rId3"/>
    <p:sldId id="263" r:id="rId4"/>
    <p:sldId id="258" r:id="rId5"/>
    <p:sldId id="264" r:id="rId6"/>
    <p:sldId id="259" r:id="rId7"/>
    <p:sldId id="265" r:id="rId8"/>
    <p:sldId id="260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62760-83F3-4000-9E53-2081E38B9199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139A6-DD31-4E48-9771-07FFF0D71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7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33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79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41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7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9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09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246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59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03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9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4753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99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741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14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57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83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42D0E-6380-470C-B6D2-A269E55485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31E4B-7C5A-4D45-91DE-A3856AEFE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4834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D89A9-589A-F336-FBC1-8E31CE00E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croll: Horizontal 4">
            <a:extLst>
              <a:ext uri="{FF2B5EF4-FFF2-40B4-BE49-F238E27FC236}">
                <a16:creationId xmlns:a16="http://schemas.microsoft.com/office/drawing/2014/main" id="{68CB582A-0A06-CC4C-2EEF-A474C07EFF14}"/>
              </a:ext>
            </a:extLst>
          </p:cNvPr>
          <p:cNvSpPr/>
          <p:nvPr/>
        </p:nvSpPr>
        <p:spPr>
          <a:xfrm>
            <a:off x="2198370" y="883920"/>
            <a:ext cx="7795260" cy="2133600"/>
          </a:xfrm>
          <a:prstGeom prst="horizontalScroll">
            <a:avLst/>
          </a:prstGeom>
          <a:solidFill>
            <a:schemeClr val="bg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67AA9-CED4-9568-AA46-C50A36EE9CDC}"/>
              </a:ext>
            </a:extLst>
          </p:cNvPr>
          <p:cNvSpPr txBox="1"/>
          <p:nvPr/>
        </p:nvSpPr>
        <p:spPr>
          <a:xfrm>
            <a:off x="3291840" y="1220420"/>
            <a:ext cx="59740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Book activities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79B7C-728F-74EC-93B1-4626CCE7E31C}"/>
              </a:ext>
            </a:extLst>
          </p:cNvPr>
          <p:cNvSpPr txBox="1"/>
          <p:nvPr/>
        </p:nvSpPr>
        <p:spPr>
          <a:xfrm>
            <a:off x="1638299" y="3608250"/>
            <a:ext cx="86064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Lesson 1&amp;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951FCA-6252-26C5-EDEC-EB813BCDE919}"/>
              </a:ext>
            </a:extLst>
          </p:cNvPr>
          <p:cNvSpPr txBox="1"/>
          <p:nvPr/>
        </p:nvSpPr>
        <p:spPr>
          <a:xfrm>
            <a:off x="6598920" y="3625335"/>
            <a:ext cx="5593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Lesson </a:t>
            </a:r>
            <a:r>
              <a:rPr lang="en-US" sz="88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353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Single Corner Rounded 16">
            <a:extLst>
              <a:ext uri="{FF2B5EF4-FFF2-40B4-BE49-F238E27FC236}">
                <a16:creationId xmlns:a16="http://schemas.microsoft.com/office/drawing/2014/main" id="{6553086C-DA96-B56E-8ABC-516FEA739B64}"/>
              </a:ext>
            </a:extLst>
          </p:cNvPr>
          <p:cNvSpPr/>
          <p:nvPr/>
        </p:nvSpPr>
        <p:spPr>
          <a:xfrm>
            <a:off x="-228600" y="190500"/>
            <a:ext cx="5257800" cy="1276350"/>
          </a:xfrm>
          <a:prstGeom prst="round1Rect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D115B0-73E7-98BD-46CD-AE09A6EAB850}"/>
              </a:ext>
            </a:extLst>
          </p:cNvPr>
          <p:cNvSpPr txBox="1"/>
          <p:nvPr/>
        </p:nvSpPr>
        <p:spPr>
          <a:xfrm>
            <a:off x="781050" y="367010"/>
            <a:ext cx="3695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Activity 1: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67757-47AC-6377-621C-905595631ED0}"/>
              </a:ext>
            </a:extLst>
          </p:cNvPr>
          <p:cNvSpPr txBox="1"/>
          <p:nvPr/>
        </p:nvSpPr>
        <p:spPr>
          <a:xfrm>
            <a:off x="971550" y="1643360"/>
            <a:ext cx="106870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erlin Sans FB Demi" panose="020E0802020502020306" pitchFamily="34" charset="0"/>
              </a:rPr>
              <a:t>Write a Python script to create a file named my_diary.txt and write a few sentences about your day.</a:t>
            </a:r>
            <a:br>
              <a:rPr lang="en-US" sz="4400" dirty="0"/>
            </a:br>
            <a:r>
              <a:rPr lang="en-US" sz="4400" b="1" dirty="0"/>
              <a:t>notes: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latin typeface="Berlin Sans FB" panose="020E0602020502020306" pitchFamily="34" charset="0"/>
              </a:rPr>
              <a:t>Create the file within the code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latin typeface="Berlin Sans FB" panose="020E0602020502020306" pitchFamily="34" charset="0"/>
              </a:rPr>
              <a:t>Remember to close the file after writing</a:t>
            </a:r>
          </a:p>
        </p:txBody>
      </p:sp>
    </p:spTree>
    <p:extLst>
      <p:ext uri="{BB962C8B-B14F-4D97-AF65-F5344CB8AC3E}">
        <p14:creationId xmlns:p14="http://schemas.microsoft.com/office/powerpoint/2010/main" val="1494042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E7845-69F3-5B1F-5471-6248BDCA1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Single Corner Rounded 16">
            <a:extLst>
              <a:ext uri="{FF2B5EF4-FFF2-40B4-BE49-F238E27FC236}">
                <a16:creationId xmlns:a16="http://schemas.microsoft.com/office/drawing/2014/main" id="{CCBB36FA-9E24-FA02-681D-BE868612CFEB}"/>
              </a:ext>
            </a:extLst>
          </p:cNvPr>
          <p:cNvSpPr/>
          <p:nvPr/>
        </p:nvSpPr>
        <p:spPr>
          <a:xfrm>
            <a:off x="-228600" y="190500"/>
            <a:ext cx="5257800" cy="1276350"/>
          </a:xfrm>
          <a:prstGeom prst="round1Rect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DFB3EE-036D-D27D-A669-5CB1B06F7346}"/>
              </a:ext>
            </a:extLst>
          </p:cNvPr>
          <p:cNvSpPr txBox="1"/>
          <p:nvPr/>
        </p:nvSpPr>
        <p:spPr>
          <a:xfrm>
            <a:off x="133350" y="413176"/>
            <a:ext cx="5314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Activity 1 solution: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7EACBB-C843-6534-3FEB-D39F0D943BF0}"/>
              </a:ext>
            </a:extLst>
          </p:cNvPr>
          <p:cNvSpPr txBox="1"/>
          <p:nvPr/>
        </p:nvSpPr>
        <p:spPr>
          <a:xfrm>
            <a:off x="1714500" y="2095500"/>
            <a:ext cx="1168146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file  = open("my_diary.txt", "w")</a:t>
            </a:r>
          </a:p>
          <a:p>
            <a:r>
              <a:rPr lang="en-US" sz="5400" dirty="0" err="1"/>
              <a:t>file.write</a:t>
            </a:r>
            <a:r>
              <a:rPr lang="en-US" sz="5400" dirty="0"/>
              <a:t>(“I had a nice day\n" \</a:t>
            </a:r>
          </a:p>
          <a:p>
            <a:r>
              <a:rPr lang="en-US" sz="5400" dirty="0"/>
              <a:t>“I leant something new that day")</a:t>
            </a:r>
          </a:p>
          <a:p>
            <a:r>
              <a:rPr lang="en-US" sz="5400" dirty="0" err="1"/>
              <a:t>file.close</a:t>
            </a:r>
            <a:r>
              <a:rPr lang="en-US" sz="5400" dirty="0"/>
              <a:t>()</a:t>
            </a:r>
          </a:p>
          <a:p>
            <a:endParaRPr lang="en-US" sz="4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28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C772B-E108-2D10-B482-7E520406D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Single Corner Rounded 16">
            <a:extLst>
              <a:ext uri="{FF2B5EF4-FFF2-40B4-BE49-F238E27FC236}">
                <a16:creationId xmlns:a16="http://schemas.microsoft.com/office/drawing/2014/main" id="{FA9088E9-286B-C974-30E5-E45089F5052E}"/>
              </a:ext>
            </a:extLst>
          </p:cNvPr>
          <p:cNvSpPr/>
          <p:nvPr/>
        </p:nvSpPr>
        <p:spPr>
          <a:xfrm>
            <a:off x="-228600" y="190500"/>
            <a:ext cx="5257800" cy="1276350"/>
          </a:xfrm>
          <a:prstGeom prst="round1Rect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F53131-99D7-5F92-A132-56D2D270C2E5}"/>
              </a:ext>
            </a:extLst>
          </p:cNvPr>
          <p:cNvSpPr txBox="1"/>
          <p:nvPr/>
        </p:nvSpPr>
        <p:spPr>
          <a:xfrm>
            <a:off x="781050" y="367010"/>
            <a:ext cx="3695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Activity 2: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26A4B3-99CE-ED77-B50E-700F323A4B79}"/>
              </a:ext>
            </a:extLst>
          </p:cNvPr>
          <p:cNvSpPr txBox="1"/>
          <p:nvPr/>
        </p:nvSpPr>
        <p:spPr>
          <a:xfrm>
            <a:off x="1238250" y="2672060"/>
            <a:ext cx="1068705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erlin Sans FB Demi" panose="020E0802020502020306" pitchFamily="34" charset="0"/>
              </a:rPr>
              <a:t>Read data from a file and count the number of words in it</a:t>
            </a:r>
            <a:r>
              <a:rPr lang="en-US" sz="4400" dirty="0"/>
              <a:t>.</a:t>
            </a:r>
            <a:br>
              <a:rPr lang="en-US" sz="4400" dirty="0"/>
            </a:br>
            <a:endParaRPr lang="en-US" sz="44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87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126D0-9A2C-A8FE-B241-BBA81DBFD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Single Corner Rounded 16">
            <a:extLst>
              <a:ext uri="{FF2B5EF4-FFF2-40B4-BE49-F238E27FC236}">
                <a16:creationId xmlns:a16="http://schemas.microsoft.com/office/drawing/2014/main" id="{1CCBC86F-F2AB-92C6-B03F-7D02ADAD1A24}"/>
              </a:ext>
            </a:extLst>
          </p:cNvPr>
          <p:cNvSpPr/>
          <p:nvPr/>
        </p:nvSpPr>
        <p:spPr>
          <a:xfrm>
            <a:off x="-228600" y="190500"/>
            <a:ext cx="5257800" cy="1276350"/>
          </a:xfrm>
          <a:prstGeom prst="round1Rect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F83374-E357-4507-1F54-B07721BF95DE}"/>
              </a:ext>
            </a:extLst>
          </p:cNvPr>
          <p:cNvSpPr txBox="1"/>
          <p:nvPr/>
        </p:nvSpPr>
        <p:spPr>
          <a:xfrm>
            <a:off x="133350" y="413176"/>
            <a:ext cx="5314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Activity 2 solution: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FBBB4-7CCA-AED2-D96C-4836F0573C50}"/>
              </a:ext>
            </a:extLst>
          </p:cNvPr>
          <p:cNvSpPr txBox="1"/>
          <p:nvPr/>
        </p:nvSpPr>
        <p:spPr>
          <a:xfrm>
            <a:off x="2790825" y="2026920"/>
            <a:ext cx="8610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file = open("data.txt")</a:t>
            </a:r>
          </a:p>
          <a:p>
            <a:r>
              <a:rPr lang="en-US" sz="5400" dirty="0"/>
              <a:t>string = </a:t>
            </a:r>
            <a:r>
              <a:rPr lang="en-US" sz="5400" dirty="0" err="1"/>
              <a:t>file.read</a:t>
            </a:r>
            <a:r>
              <a:rPr lang="en-US" sz="5400" dirty="0"/>
              <a:t>()</a:t>
            </a:r>
          </a:p>
          <a:p>
            <a:r>
              <a:rPr lang="en-US" sz="5400" dirty="0"/>
              <a:t>words = </a:t>
            </a:r>
            <a:r>
              <a:rPr lang="en-US" sz="5400" dirty="0" err="1"/>
              <a:t>string.split</a:t>
            </a:r>
            <a:r>
              <a:rPr lang="en-US" sz="5400" dirty="0"/>
              <a:t>()</a:t>
            </a:r>
          </a:p>
          <a:p>
            <a:r>
              <a:rPr lang="en-US" sz="5400" dirty="0"/>
              <a:t>print(</a:t>
            </a:r>
            <a:r>
              <a:rPr lang="en-US" sz="5400" dirty="0" err="1"/>
              <a:t>len</a:t>
            </a:r>
            <a:r>
              <a:rPr lang="en-US" sz="5400" dirty="0"/>
              <a:t>(words))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66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B723-8A0E-FBF2-0150-85388639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Single Corner Rounded 16">
            <a:extLst>
              <a:ext uri="{FF2B5EF4-FFF2-40B4-BE49-F238E27FC236}">
                <a16:creationId xmlns:a16="http://schemas.microsoft.com/office/drawing/2014/main" id="{BB04CB49-0030-69AB-1F6A-C58E4A415A19}"/>
              </a:ext>
            </a:extLst>
          </p:cNvPr>
          <p:cNvSpPr/>
          <p:nvPr/>
        </p:nvSpPr>
        <p:spPr>
          <a:xfrm>
            <a:off x="-228600" y="190500"/>
            <a:ext cx="5257800" cy="1276350"/>
          </a:xfrm>
          <a:prstGeom prst="round1Rect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5C26B4-5FDA-5554-D0E8-096BAB6D4340}"/>
              </a:ext>
            </a:extLst>
          </p:cNvPr>
          <p:cNvSpPr txBox="1"/>
          <p:nvPr/>
        </p:nvSpPr>
        <p:spPr>
          <a:xfrm>
            <a:off x="781050" y="367010"/>
            <a:ext cx="3695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Activity 3: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0E4D9B-C812-6975-37C5-334F1D55391C}"/>
              </a:ext>
            </a:extLst>
          </p:cNvPr>
          <p:cNvSpPr txBox="1"/>
          <p:nvPr/>
        </p:nvSpPr>
        <p:spPr>
          <a:xfrm>
            <a:off x="1143000" y="2329160"/>
            <a:ext cx="1068705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erlin Sans FB" panose="020E0602020502020306" pitchFamily="34" charset="0"/>
              </a:rPr>
              <a:t>Create a script to calculate the average of numbers stored in a text file in which the file had each number in a row. </a:t>
            </a:r>
            <a:br>
              <a:rPr lang="en-US" sz="4400" dirty="0"/>
            </a:b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25567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9EFEC-64C6-8E24-694D-04D5FA6E4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Single Corner Rounded 16">
            <a:extLst>
              <a:ext uri="{FF2B5EF4-FFF2-40B4-BE49-F238E27FC236}">
                <a16:creationId xmlns:a16="http://schemas.microsoft.com/office/drawing/2014/main" id="{9A92D912-0F74-4ADE-7E25-DBB6A0CF43B0}"/>
              </a:ext>
            </a:extLst>
          </p:cNvPr>
          <p:cNvSpPr/>
          <p:nvPr/>
        </p:nvSpPr>
        <p:spPr>
          <a:xfrm>
            <a:off x="-228600" y="190500"/>
            <a:ext cx="5257800" cy="1276350"/>
          </a:xfrm>
          <a:prstGeom prst="round1Rect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781557-0853-10B7-952B-20C22E43FD85}"/>
              </a:ext>
            </a:extLst>
          </p:cNvPr>
          <p:cNvSpPr txBox="1"/>
          <p:nvPr/>
        </p:nvSpPr>
        <p:spPr>
          <a:xfrm>
            <a:off x="133350" y="413176"/>
            <a:ext cx="5314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Activity 3 solution: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0E4564-10F5-C42A-4B3E-F3F66219675B}"/>
              </a:ext>
            </a:extLst>
          </p:cNvPr>
          <p:cNvSpPr txBox="1"/>
          <p:nvPr/>
        </p:nvSpPr>
        <p:spPr>
          <a:xfrm>
            <a:off x="1510664" y="1856870"/>
            <a:ext cx="1241869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numbers = []</a:t>
            </a:r>
          </a:p>
          <a:p>
            <a:r>
              <a:rPr lang="en-US" sz="4000" dirty="0"/>
              <a:t>with open("numberss.txt", "r") as file:</a:t>
            </a:r>
          </a:p>
          <a:p>
            <a:r>
              <a:rPr lang="en-US" sz="4000" dirty="0"/>
              <a:t>    f = </a:t>
            </a:r>
            <a:r>
              <a:rPr lang="en-US" sz="4000" dirty="0" err="1"/>
              <a:t>file.readlines</a:t>
            </a:r>
            <a:r>
              <a:rPr lang="en-US" sz="4000" dirty="0"/>
              <a:t>()</a:t>
            </a:r>
          </a:p>
          <a:p>
            <a:r>
              <a:rPr lang="en-US" sz="4000" dirty="0"/>
              <a:t>    for line in f:</a:t>
            </a:r>
          </a:p>
          <a:p>
            <a:r>
              <a:rPr lang="en-US" sz="4000" dirty="0"/>
              <a:t>        </a:t>
            </a:r>
            <a:r>
              <a:rPr lang="en-US" sz="4000" dirty="0" err="1"/>
              <a:t>numbers.append</a:t>
            </a:r>
            <a:r>
              <a:rPr lang="en-US" sz="4000" dirty="0"/>
              <a:t>(int(line))</a:t>
            </a:r>
          </a:p>
          <a:p>
            <a:r>
              <a:rPr lang="en-US" sz="4000" dirty="0"/>
              <a:t>print(sum(numbers)/</a:t>
            </a:r>
            <a:r>
              <a:rPr lang="en-US" sz="4000" dirty="0" err="1"/>
              <a:t>len</a:t>
            </a:r>
            <a:r>
              <a:rPr lang="en-US" sz="4000" dirty="0"/>
              <a:t>(numbers))</a:t>
            </a:r>
          </a:p>
          <a:p>
            <a:endParaRPr lang="en-US" sz="4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55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E4478-3989-BEF0-D08E-6B9CE0ADC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Single Corner Rounded 16">
            <a:extLst>
              <a:ext uri="{FF2B5EF4-FFF2-40B4-BE49-F238E27FC236}">
                <a16:creationId xmlns:a16="http://schemas.microsoft.com/office/drawing/2014/main" id="{B06F86E2-B5CD-9C20-E548-EF66453D3D03}"/>
              </a:ext>
            </a:extLst>
          </p:cNvPr>
          <p:cNvSpPr/>
          <p:nvPr/>
        </p:nvSpPr>
        <p:spPr>
          <a:xfrm>
            <a:off x="-228600" y="190500"/>
            <a:ext cx="5257800" cy="1276350"/>
          </a:xfrm>
          <a:prstGeom prst="round1Rect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C910E5-90C6-52C2-9F17-D60B635DE077}"/>
              </a:ext>
            </a:extLst>
          </p:cNvPr>
          <p:cNvSpPr txBox="1"/>
          <p:nvPr/>
        </p:nvSpPr>
        <p:spPr>
          <a:xfrm>
            <a:off x="781050" y="367010"/>
            <a:ext cx="3695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Activity 4: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A83D17-FF62-3D90-A12E-B7611424831A}"/>
              </a:ext>
            </a:extLst>
          </p:cNvPr>
          <p:cNvSpPr txBox="1"/>
          <p:nvPr/>
        </p:nvSpPr>
        <p:spPr>
          <a:xfrm>
            <a:off x="1325880" y="1466850"/>
            <a:ext cx="106870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erlin Sans FB" panose="020E0602020502020306" pitchFamily="34" charset="0"/>
              </a:rPr>
              <a:t>Create a Python script that reads a file containing a list of names and scores, </a:t>
            </a:r>
          </a:p>
          <a:p>
            <a:r>
              <a:rPr lang="en-US" sz="4400" dirty="0">
                <a:latin typeface="Berlin Sans FB" panose="020E0602020502020306" pitchFamily="34" charset="0"/>
              </a:rPr>
              <a:t>then write the average</a:t>
            </a:r>
          </a:p>
          <a:p>
            <a:r>
              <a:rPr lang="en-US" sz="4400" dirty="0">
                <a:latin typeface="Berlin Sans FB" panose="020E0602020502020306" pitchFamily="34" charset="0"/>
              </a:rPr>
              <a:t>score and the highest</a:t>
            </a:r>
          </a:p>
          <a:p>
            <a:r>
              <a:rPr lang="en-US" sz="4400" dirty="0">
                <a:latin typeface="Berlin Sans FB" panose="020E0602020502020306" pitchFamily="34" charset="0"/>
              </a:rPr>
              <a:t>scoring individual in a</a:t>
            </a:r>
          </a:p>
          <a:p>
            <a:r>
              <a:rPr lang="en-US" sz="4400" dirty="0">
                <a:latin typeface="Berlin Sans FB" panose="020E0602020502020306" pitchFamily="34" charset="0"/>
              </a:rPr>
              <a:t>New file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8F79C-C94B-99B7-5048-A77B3B816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268" y="5284783"/>
            <a:ext cx="4695798" cy="15315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581563-9F22-ECCE-81CD-623D9042D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267" y="2785639"/>
            <a:ext cx="4695799" cy="249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94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6B9BB-0529-38B7-B998-F01915ABD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Single Corner Rounded 16">
            <a:extLst>
              <a:ext uri="{FF2B5EF4-FFF2-40B4-BE49-F238E27FC236}">
                <a16:creationId xmlns:a16="http://schemas.microsoft.com/office/drawing/2014/main" id="{E03BF7B6-189A-C7AF-EE90-A91825FC6941}"/>
              </a:ext>
            </a:extLst>
          </p:cNvPr>
          <p:cNvSpPr/>
          <p:nvPr/>
        </p:nvSpPr>
        <p:spPr>
          <a:xfrm>
            <a:off x="-228600" y="190500"/>
            <a:ext cx="5257800" cy="1276350"/>
          </a:xfrm>
          <a:prstGeom prst="round1Rect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179C16-23B9-A3DE-76BD-9934C1314A91}"/>
              </a:ext>
            </a:extLst>
          </p:cNvPr>
          <p:cNvSpPr txBox="1"/>
          <p:nvPr/>
        </p:nvSpPr>
        <p:spPr>
          <a:xfrm>
            <a:off x="133350" y="413176"/>
            <a:ext cx="5314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Activity 4 solution: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DB9AB-51AC-AF6F-D00F-D18E46ECC20C}"/>
              </a:ext>
            </a:extLst>
          </p:cNvPr>
          <p:cNvSpPr txBox="1"/>
          <p:nvPr/>
        </p:nvSpPr>
        <p:spPr>
          <a:xfrm>
            <a:off x="621030" y="1650742"/>
            <a:ext cx="1120521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names = []</a:t>
            </a:r>
          </a:p>
          <a:p>
            <a:r>
              <a:rPr lang="en-US" sz="3200" dirty="0"/>
              <a:t>scores = []</a:t>
            </a:r>
          </a:p>
          <a:p>
            <a:r>
              <a:rPr lang="en-US" sz="3200" dirty="0"/>
              <a:t>with open("class_scores.txt") as file:</a:t>
            </a:r>
          </a:p>
          <a:p>
            <a:r>
              <a:rPr lang="en-US" sz="3200" dirty="0"/>
              <a:t>    with open("class_report.txt", "w") as file2:</a:t>
            </a:r>
          </a:p>
          <a:p>
            <a:r>
              <a:rPr lang="en-US" sz="3200" dirty="0"/>
              <a:t>        for line in file:</a:t>
            </a:r>
          </a:p>
          <a:p>
            <a:r>
              <a:rPr lang="en-US" sz="3200" dirty="0"/>
              <a:t>            </a:t>
            </a:r>
            <a:r>
              <a:rPr lang="en-US" sz="3200" dirty="0" err="1"/>
              <a:t>names.append</a:t>
            </a:r>
            <a:r>
              <a:rPr lang="en-US" sz="3200" dirty="0"/>
              <a:t>(f"{</a:t>
            </a:r>
            <a:r>
              <a:rPr lang="en-US" sz="3200" dirty="0" err="1"/>
              <a:t>line.split</a:t>
            </a:r>
            <a:r>
              <a:rPr lang="en-US" sz="3200" dirty="0"/>
              <a:t>(",")[0]}")</a:t>
            </a:r>
          </a:p>
          <a:p>
            <a:r>
              <a:rPr lang="en-US" sz="3200" dirty="0"/>
              <a:t>            </a:t>
            </a:r>
            <a:r>
              <a:rPr lang="en-US" sz="3200" dirty="0" err="1"/>
              <a:t>scores.append</a:t>
            </a:r>
            <a:r>
              <a:rPr lang="en-US" sz="3200" dirty="0"/>
              <a:t>(int(</a:t>
            </a:r>
            <a:r>
              <a:rPr lang="en-US" sz="3200" dirty="0" err="1"/>
              <a:t>line.split</a:t>
            </a:r>
            <a:r>
              <a:rPr lang="en-US" sz="3200" dirty="0"/>
              <a:t>(",")[1]))</a:t>
            </a:r>
          </a:p>
          <a:p>
            <a:r>
              <a:rPr lang="en-US" sz="3200" dirty="0"/>
              <a:t>        file2.write(</a:t>
            </a:r>
            <a:r>
              <a:rPr lang="en-US" sz="3200" dirty="0" err="1"/>
              <a:t>f"Average</a:t>
            </a:r>
            <a:r>
              <a:rPr lang="en-US" sz="3200" dirty="0"/>
              <a:t> score :{sum(scores)//</a:t>
            </a:r>
            <a:r>
              <a:rPr lang="en-US" sz="3200" dirty="0" err="1"/>
              <a:t>len</a:t>
            </a:r>
            <a:r>
              <a:rPr lang="en-US" sz="3200" dirty="0"/>
              <a:t>(scores)}\n")</a:t>
            </a:r>
          </a:p>
          <a:p>
            <a:r>
              <a:rPr lang="en-US" sz="3200" dirty="0"/>
              <a:t>        file2.write(</a:t>
            </a:r>
            <a:r>
              <a:rPr lang="en-US" sz="3200" dirty="0" err="1"/>
              <a:t>f"Top</a:t>
            </a:r>
            <a:r>
              <a:rPr lang="en-US" sz="3200" dirty="0"/>
              <a:t> scorer :{names[</a:t>
            </a:r>
            <a:r>
              <a:rPr lang="en-US" sz="3200" dirty="0" err="1"/>
              <a:t>scores.index</a:t>
            </a:r>
            <a:r>
              <a:rPr lang="en-US" sz="3200" dirty="0"/>
              <a:t>(max(scores))]}\n")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9743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C1775-5C6C-BDD8-A3FB-328603876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Single Corner Rounded 16">
            <a:extLst>
              <a:ext uri="{FF2B5EF4-FFF2-40B4-BE49-F238E27FC236}">
                <a16:creationId xmlns:a16="http://schemas.microsoft.com/office/drawing/2014/main" id="{207398C0-397A-61C2-33E9-1E4A41A40452}"/>
              </a:ext>
            </a:extLst>
          </p:cNvPr>
          <p:cNvSpPr/>
          <p:nvPr/>
        </p:nvSpPr>
        <p:spPr>
          <a:xfrm>
            <a:off x="-228600" y="190500"/>
            <a:ext cx="5257800" cy="1276350"/>
          </a:xfrm>
          <a:prstGeom prst="round1Rect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F8FE5B-7354-BD2D-B393-730E8C992894}"/>
              </a:ext>
            </a:extLst>
          </p:cNvPr>
          <p:cNvSpPr txBox="1"/>
          <p:nvPr/>
        </p:nvSpPr>
        <p:spPr>
          <a:xfrm>
            <a:off x="781050" y="367010"/>
            <a:ext cx="3695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Activity 5: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53EA67-4939-E856-0927-263587FCE8F1}"/>
              </a:ext>
            </a:extLst>
          </p:cNvPr>
          <p:cNvSpPr txBox="1"/>
          <p:nvPr/>
        </p:nvSpPr>
        <p:spPr>
          <a:xfrm>
            <a:off x="670560" y="1544241"/>
            <a:ext cx="10850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erlin Sans FB" panose="020E0602020502020306" pitchFamily="34" charset="0"/>
              </a:rPr>
              <a:t>attendance.csv, contains attendance records for students over a month. Here's the format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C4EA40-04AE-C995-F98F-E66FC1A4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122" y="2143214"/>
            <a:ext cx="4652398" cy="43395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D013C5-C844-9A37-A064-7FC257258E18}"/>
              </a:ext>
            </a:extLst>
          </p:cNvPr>
          <p:cNvSpPr txBox="1"/>
          <p:nvPr/>
        </p:nvSpPr>
        <p:spPr>
          <a:xfrm>
            <a:off x="937260" y="2836158"/>
            <a:ext cx="59241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erlin Sans FB" panose="020E0602020502020306" pitchFamily="34" charset="0"/>
              </a:rPr>
              <a:t>Calculate Attendance Rates: For each student, calculate the percentage of days they were present.</a:t>
            </a:r>
          </a:p>
        </p:txBody>
      </p:sp>
    </p:spTree>
    <p:extLst>
      <p:ext uri="{BB962C8B-B14F-4D97-AF65-F5344CB8AC3E}">
        <p14:creationId xmlns:p14="http://schemas.microsoft.com/office/powerpoint/2010/main" val="44348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FFCE-24F0-989C-492C-945D734C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Single Corner Rounded 16">
            <a:extLst>
              <a:ext uri="{FF2B5EF4-FFF2-40B4-BE49-F238E27FC236}">
                <a16:creationId xmlns:a16="http://schemas.microsoft.com/office/drawing/2014/main" id="{A437F3A6-BC2A-C961-EBEA-92B3A597D188}"/>
              </a:ext>
            </a:extLst>
          </p:cNvPr>
          <p:cNvSpPr/>
          <p:nvPr/>
        </p:nvSpPr>
        <p:spPr>
          <a:xfrm>
            <a:off x="-228600" y="190500"/>
            <a:ext cx="5257800" cy="1276350"/>
          </a:xfrm>
          <a:prstGeom prst="round1Rect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663932-B11C-BE5D-34A7-17C057F1754E}"/>
              </a:ext>
            </a:extLst>
          </p:cNvPr>
          <p:cNvSpPr txBox="1"/>
          <p:nvPr/>
        </p:nvSpPr>
        <p:spPr>
          <a:xfrm>
            <a:off x="133350" y="413176"/>
            <a:ext cx="5314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Activity 5 solution: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CC6F1-2077-26E1-ECAA-281CFCE02F6D}"/>
              </a:ext>
            </a:extLst>
          </p:cNvPr>
          <p:cNvSpPr txBox="1"/>
          <p:nvPr/>
        </p:nvSpPr>
        <p:spPr>
          <a:xfrm>
            <a:off x="438150" y="1689526"/>
            <a:ext cx="117538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import csv</a:t>
            </a:r>
          </a:p>
          <a:p>
            <a:r>
              <a:rPr lang="en-US" dirty="0" err="1"/>
              <a:t>uniqe_names</a:t>
            </a:r>
            <a:r>
              <a:rPr lang="en-US" dirty="0"/>
              <a:t> = []</a:t>
            </a:r>
          </a:p>
          <a:p>
            <a:r>
              <a:rPr lang="en-US" dirty="0"/>
              <a:t>with open("attendance.csv") as f:</a:t>
            </a:r>
          </a:p>
          <a:p>
            <a:r>
              <a:rPr lang="en-US" dirty="0"/>
              <a:t>    data = list(</a:t>
            </a:r>
            <a:r>
              <a:rPr lang="en-US" dirty="0" err="1"/>
              <a:t>csv.reader</a:t>
            </a:r>
            <a:r>
              <a:rPr lang="en-US" dirty="0"/>
              <a:t>(f))</a:t>
            </a:r>
          </a:p>
          <a:p>
            <a:r>
              <a:rPr lang="en-US" dirty="0"/>
              <a:t>    for row in data[1:]:</a:t>
            </a:r>
          </a:p>
          <a:p>
            <a:r>
              <a:rPr lang="en-US" dirty="0"/>
              <a:t>        if row[1] in </a:t>
            </a:r>
            <a:r>
              <a:rPr lang="en-US" dirty="0" err="1"/>
              <a:t>uniqe_names</a:t>
            </a:r>
            <a:r>
              <a:rPr lang="en-US" dirty="0"/>
              <a:t>:</a:t>
            </a:r>
          </a:p>
          <a:p>
            <a:r>
              <a:rPr lang="en-US" dirty="0"/>
              <a:t>            continue</a:t>
            </a:r>
          </a:p>
          <a:p>
            <a:r>
              <a:rPr lang="en-US" dirty="0"/>
              <a:t>        else:</a:t>
            </a:r>
          </a:p>
          <a:p>
            <a:r>
              <a:rPr lang="en-US" dirty="0"/>
              <a:t>            </a:t>
            </a:r>
            <a:r>
              <a:rPr lang="en-US" dirty="0" err="1"/>
              <a:t>uniqe_names.append</a:t>
            </a:r>
            <a:r>
              <a:rPr lang="en-US" dirty="0"/>
              <a:t>(row[1])</a:t>
            </a:r>
          </a:p>
          <a:p>
            <a:r>
              <a:rPr lang="en-US" dirty="0"/>
              <a:t>    for num in range(0,len(</a:t>
            </a:r>
            <a:r>
              <a:rPr lang="en-US" dirty="0" err="1"/>
              <a:t>uniqe_names</a:t>
            </a:r>
            <a:r>
              <a:rPr lang="en-US" dirty="0"/>
              <a:t>)):</a:t>
            </a:r>
          </a:p>
          <a:p>
            <a:r>
              <a:rPr lang="en-US" dirty="0"/>
              <a:t>        attendance = []</a:t>
            </a:r>
          </a:p>
          <a:p>
            <a:r>
              <a:rPr lang="en-US" dirty="0"/>
              <a:t>        for </a:t>
            </a:r>
            <a:r>
              <a:rPr lang="en-US" dirty="0" err="1"/>
              <a:t>i</a:t>
            </a:r>
            <a:r>
              <a:rPr lang="en-US" dirty="0"/>
              <a:t> , row in enumerate(data):</a:t>
            </a:r>
          </a:p>
          <a:p>
            <a:r>
              <a:rPr lang="en-US" dirty="0"/>
              <a:t>            if row[1].lower() == </a:t>
            </a:r>
            <a:r>
              <a:rPr lang="en-US" dirty="0" err="1"/>
              <a:t>uniqe_names</a:t>
            </a:r>
            <a:r>
              <a:rPr lang="en-US" dirty="0"/>
              <a:t>[num].lower():</a:t>
            </a:r>
          </a:p>
          <a:p>
            <a:r>
              <a:rPr lang="en-US" dirty="0"/>
              <a:t>                </a:t>
            </a:r>
            <a:r>
              <a:rPr lang="en-US" dirty="0" err="1"/>
              <a:t>attendance.append</a:t>
            </a:r>
            <a:r>
              <a:rPr lang="en-US" dirty="0"/>
              <a:t>(row[2])</a:t>
            </a:r>
          </a:p>
          <a:p>
            <a:r>
              <a:rPr lang="en-US" dirty="0"/>
              <a:t>        print(f"{</a:t>
            </a:r>
            <a:r>
              <a:rPr lang="en-US" dirty="0" err="1"/>
              <a:t>uniqe_names</a:t>
            </a:r>
            <a:r>
              <a:rPr lang="en-US" dirty="0"/>
              <a:t>[num]} has attendance rate of: {round(</a:t>
            </a:r>
            <a:r>
              <a:rPr lang="en-US" dirty="0" err="1"/>
              <a:t>attendance.count</a:t>
            </a:r>
            <a:r>
              <a:rPr lang="en-US" dirty="0"/>
              <a:t>("Present")/</a:t>
            </a:r>
            <a:r>
              <a:rPr lang="en-US" dirty="0" err="1"/>
              <a:t>len</a:t>
            </a:r>
            <a:r>
              <a:rPr lang="en-US" dirty="0"/>
              <a:t>(attendance) * 100,2)}%")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3704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4A4B8-D921-A446-3327-DA4161419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Single Corner Rounded 16">
            <a:extLst>
              <a:ext uri="{FF2B5EF4-FFF2-40B4-BE49-F238E27FC236}">
                <a16:creationId xmlns:a16="http://schemas.microsoft.com/office/drawing/2014/main" id="{62EE07CA-D976-9C2A-06AE-0A53941696DB}"/>
              </a:ext>
            </a:extLst>
          </p:cNvPr>
          <p:cNvSpPr/>
          <p:nvPr/>
        </p:nvSpPr>
        <p:spPr>
          <a:xfrm>
            <a:off x="-228600" y="190500"/>
            <a:ext cx="5257800" cy="1276350"/>
          </a:xfrm>
          <a:prstGeom prst="round1Rect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2C180D-82E2-BF22-CDC3-F640EA7D5AE8}"/>
              </a:ext>
            </a:extLst>
          </p:cNvPr>
          <p:cNvSpPr txBox="1"/>
          <p:nvPr/>
        </p:nvSpPr>
        <p:spPr>
          <a:xfrm>
            <a:off x="781050" y="367010"/>
            <a:ext cx="3695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Activity 6: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0366F0-E9F0-7B2C-14F1-2C239D7EEA47}"/>
              </a:ext>
            </a:extLst>
          </p:cNvPr>
          <p:cNvSpPr txBox="1"/>
          <p:nvPr/>
        </p:nvSpPr>
        <p:spPr>
          <a:xfrm>
            <a:off x="781050" y="1458694"/>
            <a:ext cx="92925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dirty="0"/>
              <a:t>a file named </a:t>
            </a:r>
            <a:r>
              <a:rPr lang="en-US" sz="3600" dirty="0" err="1"/>
              <a:t>event_attendees.json</a:t>
            </a:r>
            <a:r>
              <a:rPr lang="en-US" sz="3600" dirty="0"/>
              <a:t>, which contains information about attendees at various school events. Here's a sample of the file content</a:t>
            </a:r>
            <a:r>
              <a:rPr lang="ar-EG" sz="3600" dirty="0"/>
              <a:t>: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4A433A-D77E-59C9-4905-0DEA5E928DDA}"/>
              </a:ext>
            </a:extLst>
          </p:cNvPr>
          <p:cNvSpPr txBox="1"/>
          <p:nvPr/>
        </p:nvSpPr>
        <p:spPr>
          <a:xfrm>
            <a:off x="781050" y="3074670"/>
            <a:ext cx="68237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dirty="0"/>
              <a:t>Iterate over each event and list its name. • Within each event, list the names of all attendees. • Think about how the nested structure (events and attendees) is represented and accessed in JSON.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CB29D-6B21-DBDB-1E30-5F65569552C9}"/>
              </a:ext>
            </a:extLst>
          </p:cNvPr>
          <p:cNvSpPr txBox="1"/>
          <p:nvPr/>
        </p:nvSpPr>
        <p:spPr>
          <a:xfrm>
            <a:off x="8153400" y="3143845"/>
            <a:ext cx="38404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 "events": [ { "event": "Science Fair", "attendees": [ {"name": "Ahmed", "grade": 10, "section": "A"}, {"name": "Mona", "grade": 11, "section": "B"}, {"name": "Youssef", "grade": 10, "section": "A"} ] }, { "event": "Math Olympiad", "attendees": [ {"name": "Laila", "grade": 12, "section": "C"}, {"name": "Sara", "grade": 11, "section": "D"}, {"name": "Omar", "grade": 10, "section": "E"} ] } // Additional events and attendees... ] }</a:t>
            </a:r>
          </a:p>
        </p:txBody>
      </p:sp>
    </p:spTree>
    <p:extLst>
      <p:ext uri="{BB962C8B-B14F-4D97-AF65-F5344CB8AC3E}">
        <p14:creationId xmlns:p14="http://schemas.microsoft.com/office/powerpoint/2010/main" val="247909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0F86E-D5C9-6F95-1CF6-64C6106F6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Single Corner Rounded 16">
            <a:extLst>
              <a:ext uri="{FF2B5EF4-FFF2-40B4-BE49-F238E27FC236}">
                <a16:creationId xmlns:a16="http://schemas.microsoft.com/office/drawing/2014/main" id="{1517B172-0B63-8AE5-2038-CB9944546220}"/>
              </a:ext>
            </a:extLst>
          </p:cNvPr>
          <p:cNvSpPr/>
          <p:nvPr/>
        </p:nvSpPr>
        <p:spPr>
          <a:xfrm>
            <a:off x="-228600" y="190500"/>
            <a:ext cx="5257800" cy="1276350"/>
          </a:xfrm>
          <a:prstGeom prst="round1Rect">
            <a:avLst/>
          </a:prstGeom>
          <a:solidFill>
            <a:schemeClr val="bg2">
              <a:lumMod val="75000"/>
            </a:schemeClr>
          </a:solidFill>
          <a:ln w="5715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D84D5A-0678-8476-4EDD-2EE0352EBF8E}"/>
              </a:ext>
            </a:extLst>
          </p:cNvPr>
          <p:cNvSpPr txBox="1"/>
          <p:nvPr/>
        </p:nvSpPr>
        <p:spPr>
          <a:xfrm>
            <a:off x="133350" y="413176"/>
            <a:ext cx="5314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Activity 6 solution: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39E0-BB44-CE97-2336-D34E37460B23}"/>
              </a:ext>
            </a:extLst>
          </p:cNvPr>
          <p:cNvSpPr txBox="1"/>
          <p:nvPr/>
        </p:nvSpPr>
        <p:spPr>
          <a:xfrm>
            <a:off x="438150" y="1689526"/>
            <a:ext cx="1175385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endParaRPr lang="en-US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E13C76-4674-B22F-C089-710F69EBB2B4}"/>
              </a:ext>
            </a:extLst>
          </p:cNvPr>
          <p:cNvSpPr txBox="1"/>
          <p:nvPr/>
        </p:nvSpPr>
        <p:spPr>
          <a:xfrm>
            <a:off x="2011680" y="1466849"/>
            <a:ext cx="1225296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import </a:t>
            </a:r>
            <a:r>
              <a:rPr lang="en-US" sz="4000" dirty="0" err="1"/>
              <a:t>json</a:t>
            </a:r>
            <a:endParaRPr lang="en-US" sz="4000" dirty="0"/>
          </a:p>
          <a:p>
            <a:r>
              <a:rPr lang="en-US" sz="4000" dirty="0"/>
              <a:t>with open("</a:t>
            </a:r>
            <a:r>
              <a:rPr lang="en-US" sz="4000" dirty="0" err="1"/>
              <a:t>attendees.json</a:t>
            </a:r>
            <a:r>
              <a:rPr lang="en-US" sz="4000" dirty="0"/>
              <a:t>") as file:</a:t>
            </a:r>
          </a:p>
          <a:p>
            <a:r>
              <a:rPr lang="en-US" sz="4000" dirty="0"/>
              <a:t>    data = </a:t>
            </a:r>
            <a:r>
              <a:rPr lang="en-US" sz="4000" dirty="0" err="1"/>
              <a:t>json.load</a:t>
            </a:r>
            <a:r>
              <a:rPr lang="en-US" sz="4000" dirty="0"/>
              <a:t>(file)</a:t>
            </a:r>
          </a:p>
          <a:p>
            <a:r>
              <a:rPr lang="en-US" sz="4000" dirty="0"/>
              <a:t>    for value in </a:t>
            </a:r>
            <a:r>
              <a:rPr lang="en-US" sz="4000" dirty="0" err="1"/>
              <a:t>data.values</a:t>
            </a:r>
            <a:r>
              <a:rPr lang="en-US" sz="4000" dirty="0"/>
              <a:t>():</a:t>
            </a:r>
          </a:p>
          <a:p>
            <a:r>
              <a:rPr lang="en-US" sz="4000" dirty="0"/>
              <a:t>        for event in value:</a:t>
            </a:r>
          </a:p>
          <a:p>
            <a:r>
              <a:rPr lang="en-US" sz="4000" dirty="0"/>
              <a:t>            print(f"{event["event"]}:")</a:t>
            </a:r>
          </a:p>
          <a:p>
            <a:r>
              <a:rPr lang="en-US" sz="4000" dirty="0"/>
              <a:t>            for </a:t>
            </a:r>
            <a:r>
              <a:rPr lang="en-US" sz="4000" dirty="0" err="1"/>
              <a:t>dict</a:t>
            </a:r>
            <a:r>
              <a:rPr lang="en-US" sz="4000" dirty="0"/>
              <a:t> in event["attendees"]:</a:t>
            </a:r>
          </a:p>
          <a:p>
            <a:r>
              <a:rPr lang="en-US" sz="4000" dirty="0"/>
              <a:t>                print(f"\t\t{</a:t>
            </a:r>
            <a:r>
              <a:rPr lang="en-US" sz="4000" dirty="0" err="1"/>
              <a:t>dict</a:t>
            </a:r>
            <a:r>
              <a:rPr lang="en-US" sz="4000" dirty="0"/>
              <a:t>["name"]}")</a:t>
            </a:r>
          </a:p>
        </p:txBody>
      </p:sp>
    </p:spTree>
    <p:extLst>
      <p:ext uri="{BB962C8B-B14F-4D97-AF65-F5344CB8AC3E}">
        <p14:creationId xmlns:p14="http://schemas.microsoft.com/office/powerpoint/2010/main" val="4144468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F3078-0657-6373-E0EB-0E3A1149A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7F269D-8368-AB8B-9963-CB181EABFFCC}"/>
              </a:ext>
            </a:extLst>
          </p:cNvPr>
          <p:cNvSpPr txBox="1"/>
          <p:nvPr/>
        </p:nvSpPr>
        <p:spPr>
          <a:xfrm>
            <a:off x="1082040" y="1207532"/>
            <a:ext cx="1046988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00" dirty="0">
                <a:latin typeface="Edwardian Script ITC" panose="030303020407070D0804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451377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307</TotalTime>
  <Words>843</Words>
  <Application>Microsoft Office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Rounded MT Bold</vt:lpstr>
      <vt:lpstr>Berlin Sans FB</vt:lpstr>
      <vt:lpstr>Berlin Sans FB Demi</vt:lpstr>
      <vt:lpstr>Calibri</vt:lpstr>
      <vt:lpstr>Edwardian Script ITC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mayada ali</dc:creator>
  <cp:lastModifiedBy>mayada ali</cp:lastModifiedBy>
  <cp:revision>7</cp:revision>
  <dcterms:created xsi:type="dcterms:W3CDTF">2025-10-01T19:44:11Z</dcterms:created>
  <dcterms:modified xsi:type="dcterms:W3CDTF">2025-10-04T18:42:39Z</dcterms:modified>
</cp:coreProperties>
</file>